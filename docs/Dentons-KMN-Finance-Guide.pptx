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943600" cy="594360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3840480" cy="3840480"/>
          </a:xfrm>
          <a:prstGeom prst="ellipse">
            <a:avLst/>
          </a:prstGeom>
          <a:solidFill>
            <a:srgbClr val="2E134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5B2A8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DENTONS KMN  ·  FINANCE MANAGEMENT SYSTEM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8686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Administrator &amp;</a:t>
            </a:r>
            <a:endParaRPr lang="en-US" sz="5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Guide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640080" y="48006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guide to running the firm's finances — clients, matters, billing, trust, payroll, reporting and AI.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6035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1.0   ·   English / Français   ·   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system for the whole finance cycle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value-moving action posts to a single, balanced double-entry ledger — so reports, statements and dashboards always agree with the books. Bilingual (EN/FR), role-secured, and audit-tracked end to end.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2A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3794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12848" y="32004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2A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/ FR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212848" y="3794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UI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785616" y="32004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2A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785616" y="3794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Secured roles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58384" y="32004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2A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358384" y="3794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Audit-tracked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0" y="1554480"/>
            <a:ext cx="3749040" cy="4663440"/>
          </a:xfrm>
          <a:prstGeom prst="roundRect">
            <a:avLst>
              <a:gd name="adj" fmla="val 2927"/>
            </a:avLst>
          </a:prstGeom>
          <a:solidFill>
            <a:srgbClr val="F4F1F8"/>
          </a:solidFill>
          <a:ln/>
        </p:spPr>
      </p:sp>
      <p:sp>
        <p:nvSpPr>
          <p:cNvPr id="14" name="Text 12"/>
          <p:cNvSpPr/>
          <p:nvPr/>
        </p:nvSpPr>
        <p:spPr>
          <a:xfrm>
            <a:off x="8092440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it trustworthy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092440" y="2331720"/>
            <a:ext cx="384048" cy="384048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16" name="Text 14"/>
          <p:cNvSpPr/>
          <p:nvPr/>
        </p:nvSpPr>
        <p:spPr>
          <a:xfrm>
            <a:off x="8092440" y="2331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24" dirty="0"/>
          </a:p>
        </p:txBody>
      </p:sp>
      <p:sp>
        <p:nvSpPr>
          <p:cNvPr id="17" name="Text 15"/>
          <p:cNvSpPr/>
          <p:nvPr/>
        </p:nvSpPr>
        <p:spPr>
          <a:xfrm>
            <a:off x="8595360" y="2276856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ledger — posted entries can't be altered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92440" y="3081528"/>
            <a:ext cx="384048" cy="384048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19" name="Text 17"/>
          <p:cNvSpPr/>
          <p:nvPr/>
        </p:nvSpPr>
        <p:spPr>
          <a:xfrm>
            <a:off x="8092440" y="30815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24" dirty="0"/>
          </a:p>
        </p:txBody>
      </p:sp>
      <p:sp>
        <p:nvSpPr>
          <p:cNvPr id="20" name="Text 18"/>
          <p:cNvSpPr/>
          <p:nvPr/>
        </p:nvSpPr>
        <p:spPr>
          <a:xfrm>
            <a:off x="8595360" y="3026664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Segregation of duties enforced server-side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092440" y="3831336"/>
            <a:ext cx="384048" cy="384048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22" name="Text 20"/>
          <p:cNvSpPr/>
          <p:nvPr/>
        </p:nvSpPr>
        <p:spPr>
          <a:xfrm>
            <a:off x="8092440" y="38313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24" dirty="0"/>
          </a:p>
        </p:txBody>
      </p:sp>
      <p:sp>
        <p:nvSpPr>
          <p:cNvPr id="23" name="Text 21"/>
          <p:cNvSpPr/>
          <p:nvPr/>
        </p:nvSpPr>
        <p:spPr>
          <a:xfrm>
            <a:off x="8595360" y="3776472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trust money fully segregated, never negative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092440" y="4581144"/>
            <a:ext cx="384048" cy="384048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25" name="Text 23"/>
          <p:cNvSpPr/>
          <p:nvPr/>
        </p:nvSpPr>
        <p:spPr>
          <a:xfrm>
            <a:off x="8092440" y="45811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24" dirty="0"/>
          </a:p>
        </p:txBody>
      </p:sp>
      <p:sp>
        <p:nvSpPr>
          <p:cNvPr id="26" name="Text 24"/>
          <p:cNvSpPr/>
          <p:nvPr/>
        </p:nvSpPr>
        <p:spPr>
          <a:xfrm>
            <a:off x="8595360" y="452628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Cameroon tax built in (VAT, PAYE/IRPP, CNPS)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092440" y="5330952"/>
            <a:ext cx="384048" cy="384048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28" name="Text 26"/>
          <p:cNvSpPr/>
          <p:nvPr/>
        </p:nvSpPr>
        <p:spPr>
          <a:xfrm>
            <a:off x="8092440" y="53309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24" dirty="0"/>
          </a:p>
        </p:txBody>
      </p:sp>
      <p:sp>
        <p:nvSpPr>
          <p:cNvPr id="29" name="Text 27"/>
          <p:cNvSpPr/>
          <p:nvPr/>
        </p:nvSpPr>
        <p:spPr>
          <a:xfrm>
            <a:off x="8595360" y="5276088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written to an audit log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Signing in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66928" cy="566928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64" dirty="0"/>
          </a:p>
        </p:txBody>
      </p:sp>
      <p:sp>
        <p:nvSpPr>
          <p:cNvPr id="6" name="Text 4"/>
          <p:cNvSpPr/>
          <p:nvPr/>
        </p:nvSpPr>
        <p:spPr>
          <a:xfrm>
            <a:off x="1417320" y="181051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the app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17320" y="2157984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your deployment URL and open the Sign-in page.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907792"/>
            <a:ext cx="566928" cy="566928"/>
          </a:xfrm>
          <a:prstGeom prst="ellipse">
            <a:avLst/>
          </a:prstGeom>
          <a:solidFill>
            <a:srgbClr val="2E134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9077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64" dirty="0"/>
          </a:p>
        </p:txBody>
      </p:sp>
      <p:sp>
        <p:nvSpPr>
          <p:cNvPr id="10" name="Text 8"/>
          <p:cNvSpPr/>
          <p:nvPr/>
        </p:nvSpPr>
        <p:spPr>
          <a:xfrm>
            <a:off x="1417320" y="288950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 credentials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17320" y="3236976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account your IT Administrator created for you.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986784"/>
            <a:ext cx="566928" cy="566928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98678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64" dirty="0"/>
          </a:p>
        </p:txBody>
      </p:sp>
      <p:sp>
        <p:nvSpPr>
          <p:cNvPr id="14" name="Text 12"/>
          <p:cNvSpPr/>
          <p:nvPr/>
        </p:nvSpPr>
        <p:spPr>
          <a:xfrm>
            <a:off x="1417320" y="3968496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your language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17320" y="4315968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EN / FR any time from the top bar — no re-login.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065776"/>
            <a:ext cx="566928" cy="566928"/>
          </a:xfrm>
          <a:prstGeom prst="ellipse">
            <a:avLst/>
          </a:prstGeom>
          <a:solidFill>
            <a:srgbClr val="2E134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0657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64" dirty="0"/>
          </a:p>
        </p:txBody>
      </p:sp>
      <p:sp>
        <p:nvSpPr>
          <p:cNvPr id="18" name="Text 16"/>
          <p:cNvSpPr/>
          <p:nvPr/>
        </p:nvSpPr>
        <p:spPr>
          <a:xfrm>
            <a:off x="1417320" y="504748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your password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17320" y="539496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temporary password on first sign-in.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772400" y="1828800"/>
            <a:ext cx="3749040" cy="3566160"/>
          </a:xfrm>
          <a:prstGeom prst="roundRect">
            <a:avLst>
              <a:gd name="adj" fmla="val 3077"/>
            </a:avLst>
          </a:prstGeom>
          <a:solidFill>
            <a:srgbClr val="241033"/>
          </a:solidFill>
          <a:ln/>
        </p:spPr>
      </p:sp>
      <p:sp>
        <p:nvSpPr>
          <p:cNvPr id="21" name="Text 19"/>
          <p:cNvSpPr/>
          <p:nvPr/>
        </p:nvSpPr>
        <p:spPr>
          <a:xfrm>
            <a:off x="8092440" y="2103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Seeded demo logins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092440" y="2514600"/>
            <a:ext cx="3200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Administrator
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9BE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admin@dentonskmn.local
ChangeMe123!
</a:t>
            </a:r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Finance Officer
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9BE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cfo@dentonskmn.local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9BE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ChangeMe123!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92440" y="5440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these immediately in any real deployment.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can do what (RBAC)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is by permission (resource:action), bundled into roles. Only the IT Administrator manages users and roles.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5358384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414016"/>
            <a:ext cx="329184" cy="329184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7" name="Text 5"/>
          <p:cNvSpPr/>
          <p:nvPr/>
        </p:nvSpPr>
        <p:spPr>
          <a:xfrm>
            <a:off x="1261872" y="228600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Managing Partner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261872" y="2578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Firm-wide oversight, top-tier approvals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81344" y="2240280"/>
            <a:ext cx="5358384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345936" y="2414016"/>
            <a:ext cx="329184" cy="329184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11" name="Text 9"/>
          <p:cNvSpPr/>
          <p:nvPr/>
        </p:nvSpPr>
        <p:spPr>
          <a:xfrm>
            <a:off x="6803136" y="228600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CFO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803136" y="2578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payments, posts payroll &amp; trust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026664"/>
            <a:ext cx="5358384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804672" y="3200400"/>
            <a:ext cx="329184" cy="329184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15" name="Text 13"/>
          <p:cNvSpPr/>
          <p:nvPr/>
        </p:nvSpPr>
        <p:spPr>
          <a:xfrm>
            <a:off x="1261872" y="307238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 Manager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261872" y="33649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GL, billing, AP, cash, bank, budgets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81344" y="3026664"/>
            <a:ext cx="5358384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6345936" y="3200400"/>
            <a:ext cx="329184" cy="329184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19" name="Text 17"/>
          <p:cNvSpPr/>
          <p:nvPr/>
        </p:nvSpPr>
        <p:spPr>
          <a:xfrm>
            <a:off x="6803136" y="307238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 Officer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803136" y="33649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invoices, payments, day-to-day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3813048"/>
            <a:ext cx="5358384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804672" y="3986784"/>
            <a:ext cx="329184" cy="329184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23" name="Text 21"/>
          <p:cNvSpPr/>
          <p:nvPr/>
        </p:nvSpPr>
        <p:spPr>
          <a:xfrm>
            <a:off x="1261872" y="385876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Cashier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261872" y="415137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desk and receipts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81344" y="3813048"/>
            <a:ext cx="5358384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6345936" y="3986784"/>
            <a:ext cx="329184" cy="329184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27" name="Text 25"/>
          <p:cNvSpPr/>
          <p:nvPr/>
        </p:nvSpPr>
        <p:spPr>
          <a:xfrm>
            <a:off x="6803136" y="385876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 Payroll Officer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803136" y="415137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and payroll runs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4599432"/>
            <a:ext cx="5358384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804672" y="4773168"/>
            <a:ext cx="329184" cy="329184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31" name="Text 29"/>
          <p:cNvSpPr/>
          <p:nvPr/>
        </p:nvSpPr>
        <p:spPr>
          <a:xfrm>
            <a:off x="1261872" y="464515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Partner / Lawyer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1261872" y="49377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Matters, time entry, client work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81344" y="4599432"/>
            <a:ext cx="5358384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6345936" y="4773168"/>
            <a:ext cx="329184" cy="329184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35" name="Text 33"/>
          <p:cNvSpPr/>
          <p:nvPr/>
        </p:nvSpPr>
        <p:spPr>
          <a:xfrm>
            <a:off x="6803136" y="464515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Procurement Officer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6803136" y="49377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requests and orders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0080" y="5385816"/>
            <a:ext cx="5358384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/>
        </p:spPr>
      </p:sp>
      <p:sp>
        <p:nvSpPr>
          <p:cNvPr id="38" name="Shape 36"/>
          <p:cNvSpPr/>
          <p:nvPr/>
        </p:nvSpPr>
        <p:spPr>
          <a:xfrm>
            <a:off x="804672" y="5559552"/>
            <a:ext cx="329184" cy="3291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9" name="Text 37"/>
          <p:cNvSpPr/>
          <p:nvPr/>
        </p:nvSpPr>
        <p:spPr>
          <a:xfrm>
            <a:off x="1261872" y="543153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Administrator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1261872" y="572414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roles, permissions, audit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181344" y="5385816"/>
            <a:ext cx="5358384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/>
        </p:spPr>
      </p:sp>
      <p:sp>
        <p:nvSpPr>
          <p:cNvPr id="42" name="Shape 40"/>
          <p:cNvSpPr/>
          <p:nvPr/>
        </p:nvSpPr>
        <p:spPr>
          <a:xfrm>
            <a:off x="6345936" y="5559552"/>
            <a:ext cx="329184" cy="329184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43" name="Text 41"/>
          <p:cNvSpPr/>
          <p:nvPr/>
        </p:nvSpPr>
        <p:spPr>
          <a:xfrm>
            <a:off x="6803136" y="543153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Auditor / Read-only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6803136" y="572414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&amp; export, no changes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modules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207008" y="161848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 </a:t>
            </a:r>
            <a:pPr indent="0" marL="0">
              <a:buNone/>
            </a:pPr>
            <a:r>
              <a:rPr lang="en-US" sz="1150" dirty="0">
                <a:solidFill>
                  <a:srgbClr val="5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at a glance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81344" y="1600200"/>
            <a:ext cx="457200" cy="457200"/>
          </a:xfrm>
          <a:prstGeom prst="ellipse">
            <a:avLst/>
          </a:prstGeom>
          <a:solidFill>
            <a:srgbClr val="2E134A"/>
          </a:solidFill>
          <a:ln/>
        </p:spPr>
      </p:sp>
      <p:sp>
        <p:nvSpPr>
          <p:cNvPr id="8" name="Text 6"/>
          <p:cNvSpPr/>
          <p:nvPr/>
        </p:nvSpPr>
        <p:spPr>
          <a:xfrm>
            <a:off x="6181344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748272" y="161848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Clients &amp; Matters  </a:t>
            </a:r>
            <a:pPr indent="0" marL="0">
              <a:buNone/>
            </a:pPr>
            <a:r>
              <a:rPr lang="en-US" sz="1150" dirty="0">
                <a:solidFill>
                  <a:srgbClr val="5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KYC, AML, conflicts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308860"/>
            <a:ext cx="457200" cy="45720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088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07008" y="232714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&amp; Disbursements  </a:t>
            </a:r>
            <a:pPr indent="0" marL="0">
              <a:buNone/>
            </a:pPr>
            <a:r>
              <a:rPr lang="en-US" sz="1150" dirty="0">
                <a:solidFill>
                  <a:srgbClr val="5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Billable capture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81344" y="2308860"/>
            <a:ext cx="457200" cy="457200"/>
          </a:xfrm>
          <a:prstGeom prst="ellipse">
            <a:avLst/>
          </a:prstGeom>
          <a:solidFill>
            <a:srgbClr val="2E134A"/>
          </a:solidFill>
          <a:ln/>
        </p:spPr>
      </p:sp>
      <p:sp>
        <p:nvSpPr>
          <p:cNvPr id="14" name="Text 12"/>
          <p:cNvSpPr/>
          <p:nvPr/>
        </p:nvSpPr>
        <p:spPr>
          <a:xfrm>
            <a:off x="6181344" y="23088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748272" y="232714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Billing / AR  </a:t>
            </a:r>
            <a:pPr indent="0" marL="0">
              <a:buNone/>
            </a:pPr>
            <a:r>
              <a:rPr lang="en-US" sz="1150" dirty="0">
                <a:solidFill>
                  <a:srgbClr val="5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Invoices, VAT, receipts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3017520"/>
            <a:ext cx="457200" cy="45720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07008" y="303580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 </a:t>
            </a:r>
            <a:pPr indent="0" marL="0">
              <a:buNone/>
            </a:pPr>
            <a:r>
              <a:rPr lang="en-US" sz="1150" dirty="0">
                <a:solidFill>
                  <a:srgbClr val="5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Segregated client money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181344" y="3017520"/>
            <a:ext cx="457200" cy="457200"/>
          </a:xfrm>
          <a:prstGeom prst="ellipse">
            <a:avLst/>
          </a:prstGeom>
          <a:solidFill>
            <a:srgbClr val="2E134A"/>
          </a:solidFill>
          <a:ln/>
        </p:spPr>
      </p:sp>
      <p:sp>
        <p:nvSpPr>
          <p:cNvPr id="20" name="Text 18"/>
          <p:cNvSpPr/>
          <p:nvPr/>
        </p:nvSpPr>
        <p:spPr>
          <a:xfrm>
            <a:off x="6181344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48272" y="303580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 Ledger  </a:t>
            </a:r>
            <a:pPr indent="0" marL="0">
              <a:buNone/>
            </a:pPr>
            <a:r>
              <a:rPr lang="en-US" sz="1150" dirty="0">
                <a:solidFill>
                  <a:srgbClr val="5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COA, journals, trial balance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0080" y="3726180"/>
            <a:ext cx="457200" cy="45720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7261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207008" y="374446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Accounts Payable  </a:t>
            </a:r>
            <a:pPr indent="0" marL="0">
              <a:buNone/>
            </a:pPr>
            <a:r>
              <a:rPr lang="en-US" sz="1150" dirty="0">
                <a:solidFill>
                  <a:srgbClr val="5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Suppliers, bills, payments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181344" y="3726180"/>
            <a:ext cx="457200" cy="457200"/>
          </a:xfrm>
          <a:prstGeom prst="ellipse">
            <a:avLst/>
          </a:prstGeom>
          <a:solidFill>
            <a:srgbClr val="2E134A"/>
          </a:solidFill>
          <a:ln/>
        </p:spPr>
      </p:sp>
      <p:sp>
        <p:nvSpPr>
          <p:cNvPr id="26" name="Text 24"/>
          <p:cNvSpPr/>
          <p:nvPr/>
        </p:nvSpPr>
        <p:spPr>
          <a:xfrm>
            <a:off x="6181344" y="37261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48272" y="374446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Cash &amp; Banking  </a:t>
            </a:r>
            <a:pPr indent="0" marL="0">
              <a:buNone/>
            </a:pPr>
            <a:r>
              <a:rPr lang="en-US" sz="1150" dirty="0">
                <a:solidFill>
                  <a:srgbClr val="5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Petty cash, reconciliation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40080" y="4434840"/>
            <a:ext cx="457200" cy="45720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434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207008" y="445312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Procurement  </a:t>
            </a:r>
            <a:pPr indent="0" marL="0">
              <a:buNone/>
            </a:pPr>
            <a:r>
              <a:rPr lang="en-US" sz="1150" dirty="0">
                <a:solidFill>
                  <a:srgbClr val="5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→ orders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181344" y="4434840"/>
            <a:ext cx="457200" cy="457200"/>
          </a:xfrm>
          <a:prstGeom prst="ellipse">
            <a:avLst/>
          </a:prstGeom>
          <a:solidFill>
            <a:srgbClr val="2E134A"/>
          </a:solidFill>
          <a:ln/>
        </p:spPr>
      </p:sp>
      <p:sp>
        <p:nvSpPr>
          <p:cNvPr id="32" name="Text 30"/>
          <p:cNvSpPr/>
          <p:nvPr/>
        </p:nvSpPr>
        <p:spPr>
          <a:xfrm>
            <a:off x="6181344" y="4434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748272" y="445312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Payroll  </a:t>
            </a:r>
            <a:pPr indent="0" marL="0">
              <a:buNone/>
            </a:pPr>
            <a:r>
              <a:rPr lang="en-US" sz="1150" dirty="0">
                <a:solidFill>
                  <a:srgbClr val="5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Cameroon tax engine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640080" y="5143500"/>
            <a:ext cx="457200" cy="45720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51435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207008" y="516178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 Assets  </a:t>
            </a:r>
            <a:pPr indent="0" marL="0">
              <a:buNone/>
            </a:pPr>
            <a:r>
              <a:rPr lang="en-US" sz="1150" dirty="0">
                <a:solidFill>
                  <a:srgbClr val="5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Depreciation, disposals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6181344" y="5143500"/>
            <a:ext cx="457200" cy="457200"/>
          </a:xfrm>
          <a:prstGeom prst="ellipse">
            <a:avLst/>
          </a:prstGeom>
          <a:solidFill>
            <a:srgbClr val="2E134A"/>
          </a:solidFill>
          <a:ln/>
        </p:spPr>
      </p:sp>
      <p:sp>
        <p:nvSpPr>
          <p:cNvPr id="38" name="Text 36"/>
          <p:cNvSpPr/>
          <p:nvPr/>
        </p:nvSpPr>
        <p:spPr>
          <a:xfrm>
            <a:off x="6181344" y="51435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748272" y="516178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Budgeting  </a:t>
            </a:r>
            <a:pPr indent="0" marL="0">
              <a:buNone/>
            </a:pPr>
            <a:r>
              <a:rPr lang="en-US" sz="1150" dirty="0">
                <a:solidFill>
                  <a:srgbClr val="5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vs actual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640080" y="5852160"/>
            <a:ext cx="457200" cy="45720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" y="5852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207008" y="587044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  </a:t>
            </a:r>
            <a:pPr indent="0" marL="0">
              <a:buNone/>
            </a:pPr>
            <a:r>
              <a:rPr lang="en-US" sz="1150" dirty="0">
                <a:solidFill>
                  <a:srgbClr val="5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Statements, aged AR/AP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6181344" y="5852160"/>
            <a:ext cx="457200" cy="457200"/>
          </a:xfrm>
          <a:prstGeom prst="ellipse">
            <a:avLst/>
          </a:prstGeom>
          <a:solidFill>
            <a:srgbClr val="2E134A"/>
          </a:solidFill>
          <a:ln/>
        </p:spPr>
      </p:sp>
      <p:sp>
        <p:nvSpPr>
          <p:cNvPr id="44" name="Text 42"/>
          <p:cNvSpPr/>
          <p:nvPr/>
        </p:nvSpPr>
        <p:spPr>
          <a:xfrm>
            <a:off x="6181344" y="5852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748272" y="587044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Assistant  </a:t>
            </a:r>
            <a:pPr indent="0" marL="0">
              <a:buNone/>
            </a:pPr>
            <a:r>
              <a:rPr lang="en-US" sz="1150" dirty="0">
                <a:solidFill>
                  <a:srgbClr val="5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reporting + OCR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41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matter to money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revenue cycle — each step posts to the ledger automatically.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2011680" cy="2194560"/>
          </a:xfrm>
          <a:prstGeom prst="roundRect">
            <a:avLst>
              <a:gd name="adj" fmla="val 4545"/>
            </a:avLst>
          </a:prstGeom>
          <a:solidFill>
            <a:srgbClr val="2E134A"/>
          </a:solidFill>
          <a:ln/>
        </p:spPr>
      </p:sp>
      <p:sp>
        <p:nvSpPr>
          <p:cNvPr id="6" name="Shape 4"/>
          <p:cNvSpPr/>
          <p:nvPr/>
        </p:nvSpPr>
        <p:spPr>
          <a:xfrm>
            <a:off x="1417320" y="269748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141732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9808" y="329184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matter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49808" y="3886200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KYC-verified client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23744" y="32004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871216" y="2468880"/>
            <a:ext cx="2011680" cy="2194560"/>
          </a:xfrm>
          <a:prstGeom prst="roundRect">
            <a:avLst>
              <a:gd name="adj" fmla="val 4545"/>
            </a:avLst>
          </a:prstGeom>
          <a:solidFill>
            <a:srgbClr val="2E134A"/>
          </a:solidFill>
          <a:ln/>
        </p:spPr>
      </p:sp>
      <p:sp>
        <p:nvSpPr>
          <p:cNvPr id="12" name="Shape 10"/>
          <p:cNvSpPr/>
          <p:nvPr/>
        </p:nvSpPr>
        <p:spPr>
          <a:xfrm>
            <a:off x="3648456" y="269748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3648456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80944" y="329184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 time &amp; costs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2980944" y="3886200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Billable hours + disbursements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32004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102352" y="2468880"/>
            <a:ext cx="2011680" cy="2194560"/>
          </a:xfrm>
          <a:prstGeom prst="roundRect">
            <a:avLst>
              <a:gd name="adj" fmla="val 4545"/>
            </a:avLst>
          </a:prstGeom>
          <a:solidFill>
            <a:srgbClr val="2E134A"/>
          </a:solidFill>
          <a:ln/>
        </p:spPr>
      </p:sp>
      <p:sp>
        <p:nvSpPr>
          <p:cNvPr id="18" name="Shape 16"/>
          <p:cNvSpPr/>
          <p:nvPr/>
        </p:nvSpPr>
        <p:spPr>
          <a:xfrm>
            <a:off x="5879592" y="269748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9" name="Text 17"/>
          <p:cNvSpPr/>
          <p:nvPr/>
        </p:nvSpPr>
        <p:spPr>
          <a:xfrm>
            <a:off x="5879592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12080" y="329184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Raise invoice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212080" y="3886200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unbilled, adds VAT / WHT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86016" y="32004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7333488" y="2468880"/>
            <a:ext cx="2011680" cy="2194560"/>
          </a:xfrm>
          <a:prstGeom prst="roundRect">
            <a:avLst>
              <a:gd name="adj" fmla="val 4545"/>
            </a:avLst>
          </a:prstGeom>
          <a:solidFill>
            <a:srgbClr val="2E134A"/>
          </a:solidFill>
          <a:ln/>
        </p:spPr>
      </p:sp>
      <p:sp>
        <p:nvSpPr>
          <p:cNvPr id="24" name="Shape 22"/>
          <p:cNvSpPr/>
          <p:nvPr/>
        </p:nvSpPr>
        <p:spPr>
          <a:xfrm>
            <a:off x="8110728" y="269748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5" name="Text 23"/>
          <p:cNvSpPr/>
          <p:nvPr/>
        </p:nvSpPr>
        <p:spPr>
          <a:xfrm>
            <a:off x="8110728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43216" y="329184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 to GL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443216" y="3886200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AR = Cr fees + VAT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217152" y="32004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9564624" y="2468880"/>
            <a:ext cx="2011680" cy="2194560"/>
          </a:xfrm>
          <a:prstGeom prst="roundRect">
            <a:avLst>
              <a:gd name="adj" fmla="val 4545"/>
            </a:avLst>
          </a:prstGeom>
          <a:solidFill>
            <a:srgbClr val="2E134A"/>
          </a:solidFill>
          <a:ln/>
        </p:spPr>
      </p:sp>
      <p:sp>
        <p:nvSpPr>
          <p:cNvPr id="30" name="Shape 28"/>
          <p:cNvSpPr/>
          <p:nvPr/>
        </p:nvSpPr>
        <p:spPr>
          <a:xfrm>
            <a:off x="10341864" y="269748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1" name="Text 29"/>
          <p:cNvSpPr/>
          <p:nvPr/>
        </p:nvSpPr>
        <p:spPr>
          <a:xfrm>
            <a:off x="10341864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674352" y="329184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 receipt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9674352" y="3886200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Cash, bank or from trust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" y="52120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the trial balance always ties, and the balance sheet always balances.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accounting — client money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03520" cy="4480560"/>
          </a:xfrm>
          <a:prstGeom prst="roundRect">
            <a:avLst>
              <a:gd name="adj" fmla="val 2449"/>
            </a:avLst>
          </a:prstGeom>
          <a:solidFill>
            <a:srgbClr val="F4F1F8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60120" y="2514600"/>
            <a:ext cx="365760" cy="36576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514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1463040" y="246888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segregated trust ledger per client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60120" y="3227832"/>
            <a:ext cx="365760" cy="36576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32278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1463040" y="3182112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retainers into the trust bank account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60120" y="3941064"/>
            <a:ext cx="365760" cy="36576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9410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1463040" y="3895344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third parties on the client's behalf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60120" y="4654296"/>
            <a:ext cx="365760" cy="36576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6542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1463040" y="4608576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held funds to settle a firm invoice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60120" y="5367528"/>
            <a:ext cx="365760" cy="36576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53675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1463040" y="5321808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movement keeps a running balance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09360" y="173736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241033"/>
          </a:solidFill>
          <a:ln/>
        </p:spPr>
      </p:sp>
      <p:sp>
        <p:nvSpPr>
          <p:cNvPr id="22" name="Text 20"/>
          <p:cNvSpPr/>
          <p:nvPr/>
        </p:nvSpPr>
        <p:spPr>
          <a:xfrm>
            <a:off x="662940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guardrail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629400" y="24688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client's trust balance can never go negative.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629400" y="342900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9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attempt to withdraw or apply more than is held is rejected by the server (422). Trust funds are mirrored between a dedicated trust bank account and a client-trust liability, so firm money and client money are never commingled.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Accounts Payable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8640" cy="54864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20" dirty="0"/>
          </a:p>
        </p:txBody>
      </p:sp>
      <p:sp>
        <p:nvSpPr>
          <p:cNvPr id="6" name="Text 4"/>
          <p:cNvSpPr/>
          <p:nvPr/>
        </p:nvSpPr>
        <p:spPr>
          <a:xfrm>
            <a:off x="1371600" y="181051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supplier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371600" y="21671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 and service providers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880360"/>
            <a:ext cx="548640" cy="548640"/>
          </a:xfrm>
          <a:prstGeom prst="ellipse">
            <a:avLst/>
          </a:prstGeom>
          <a:solidFill>
            <a:srgbClr val="2E134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880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1371600" y="286207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 a bill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371600" y="321868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Amount, expense account, input VAT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931920"/>
            <a:ext cx="548640" cy="54864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931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1371600" y="39136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 to the GL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371600" y="427024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expense + VAT = Cr payables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983480"/>
            <a:ext cx="548640" cy="548640"/>
          </a:xfrm>
          <a:prstGeom prst="ellipse">
            <a:avLst/>
          </a:prstGeom>
          <a:solidFill>
            <a:srgbClr val="2E134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983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1371600" y="496519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 (part or full)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371600" y="532180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Overpayment is blocked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680960" y="1828800"/>
            <a:ext cx="3840480" cy="4206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8001000" y="2148840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2" name="Text 20"/>
          <p:cNvSpPr/>
          <p:nvPr/>
        </p:nvSpPr>
        <p:spPr>
          <a:xfrm>
            <a:off x="800100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24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210" dirty="0"/>
          </a:p>
        </p:txBody>
      </p:sp>
      <p:sp>
        <p:nvSpPr>
          <p:cNvPr id="23" name="Text 21"/>
          <p:cNvSpPr/>
          <p:nvPr/>
        </p:nvSpPr>
        <p:spPr>
          <a:xfrm>
            <a:off x="8641080" y="2194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Tip: OCR a bill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001000" y="2926080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AI Assistant page, upload an invoice image or PDF. Claude extracts the supplier, number, date, amounts and VAT — then you create the bill with those values pre-filled.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Payroll — Cameroon tax built in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employees, run a monthly payroll, review payslips, then post the payroll journal to the GL.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3474720" cy="1417320"/>
          </a:xfrm>
          <a:prstGeom prst="roundRect">
            <a:avLst>
              <a:gd name="adj" fmla="val 6452"/>
            </a:avLst>
          </a:prstGeom>
          <a:solidFill>
            <a:srgbClr val="F4F1F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6243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2A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CNPS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317296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insurance, 750k ceiling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97680" y="2423160"/>
            <a:ext cx="3474720" cy="1417320"/>
          </a:xfrm>
          <a:prstGeom prst="roundRect">
            <a:avLst>
              <a:gd name="adj" fmla="val 6452"/>
            </a:avLst>
          </a:prstGeom>
          <a:solidFill>
            <a:srgbClr val="F4F1F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26243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2A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IRPP / PAYE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572000" y="317296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income tax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955280" y="2423160"/>
            <a:ext cx="3474720" cy="1417320"/>
          </a:xfrm>
          <a:prstGeom prst="roundRect">
            <a:avLst>
              <a:gd name="adj" fmla="val 6452"/>
            </a:avLst>
          </a:prstGeom>
          <a:solidFill>
            <a:srgbClr val="F4F1F8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0" y="26243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2A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CAC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229600" y="317296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council surtax on IRPP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023360"/>
            <a:ext cx="3474720" cy="1417320"/>
          </a:xfrm>
          <a:prstGeom prst="roundRect">
            <a:avLst>
              <a:gd name="adj" fmla="val 6452"/>
            </a:avLst>
          </a:prstGeom>
          <a:solidFill>
            <a:srgbClr val="F4F1F8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2245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2A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CRTV / RAV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914400" y="477316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Audiovisual royalty bands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297680" y="4023360"/>
            <a:ext cx="3474720" cy="1417320"/>
          </a:xfrm>
          <a:prstGeom prst="roundRect">
            <a:avLst>
              <a:gd name="adj" fmla="val 6452"/>
            </a:avLst>
          </a:prstGeom>
          <a:solidFill>
            <a:srgbClr val="F4F1F8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0" y="42245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2A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Crédit Foncier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4572000" y="477316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fund 1% / 1.5%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955280" y="4023360"/>
            <a:ext cx="3474720" cy="1417320"/>
          </a:xfrm>
          <a:prstGeom prst="roundRect">
            <a:avLst>
              <a:gd name="adj" fmla="val 6452"/>
            </a:avLst>
          </a:prstGeom>
          <a:solidFill>
            <a:srgbClr val="F4F1F8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0" y="42245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2A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FNE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8229600" y="477316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fund 1%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rates live in one file (src/lib/payroll.ts) — a future tax change is a single edit.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41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 &amp; financial statements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58384" cy="1234440"/>
          </a:xfrm>
          <a:prstGeom prst="roundRect">
            <a:avLst>
              <a:gd name="adj" fmla="val 7407"/>
            </a:avLst>
          </a:prstGeom>
          <a:solidFill>
            <a:srgbClr val="2E134A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057400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574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24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364" dirty="0"/>
          </a:p>
        </p:txBody>
      </p:sp>
      <p:sp>
        <p:nvSpPr>
          <p:cNvPr id="7" name="Text 5"/>
          <p:cNvSpPr/>
          <p:nvPr/>
        </p:nvSpPr>
        <p:spPr>
          <a:xfrm>
            <a:off x="1691640" y="19933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Income Statement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91640" y="23957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− expenses = net result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81344" y="1737360"/>
            <a:ext cx="5358384" cy="1234440"/>
          </a:xfrm>
          <a:prstGeom prst="roundRect">
            <a:avLst>
              <a:gd name="adj" fmla="val 7407"/>
            </a:avLst>
          </a:prstGeom>
          <a:solidFill>
            <a:srgbClr val="2E134A"/>
          </a:solidFill>
          <a:ln/>
        </p:spPr>
      </p:sp>
      <p:sp>
        <p:nvSpPr>
          <p:cNvPr id="10" name="Shape 8"/>
          <p:cNvSpPr/>
          <p:nvPr/>
        </p:nvSpPr>
        <p:spPr>
          <a:xfrm>
            <a:off x="6455664" y="2057400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6455664" y="20574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24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364" dirty="0"/>
          </a:p>
        </p:txBody>
      </p:sp>
      <p:sp>
        <p:nvSpPr>
          <p:cNvPr id="12" name="Text 10"/>
          <p:cNvSpPr/>
          <p:nvPr/>
        </p:nvSpPr>
        <p:spPr>
          <a:xfrm>
            <a:off x="7232904" y="19933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 Sheet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32904" y="23957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 = Liabilities + Equity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154680"/>
            <a:ext cx="5358384" cy="1234440"/>
          </a:xfrm>
          <a:prstGeom prst="roundRect">
            <a:avLst>
              <a:gd name="adj" fmla="val 7407"/>
            </a:avLst>
          </a:prstGeom>
          <a:solidFill>
            <a:srgbClr val="2E134A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3474720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4747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24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364" dirty="0"/>
          </a:p>
        </p:txBody>
      </p:sp>
      <p:sp>
        <p:nvSpPr>
          <p:cNvPr id="17" name="Text 15"/>
          <p:cNvSpPr/>
          <p:nvPr/>
        </p:nvSpPr>
        <p:spPr>
          <a:xfrm>
            <a:off x="1691640" y="341071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Aged Receivables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91640" y="38130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 / 31–60 / 61–90 / 90+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81344" y="3154680"/>
            <a:ext cx="5358384" cy="1234440"/>
          </a:xfrm>
          <a:prstGeom prst="roundRect">
            <a:avLst>
              <a:gd name="adj" fmla="val 7407"/>
            </a:avLst>
          </a:prstGeom>
          <a:solidFill>
            <a:srgbClr val="2E134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55664" y="3474720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1" name="Text 19"/>
          <p:cNvSpPr/>
          <p:nvPr/>
        </p:nvSpPr>
        <p:spPr>
          <a:xfrm>
            <a:off x="6455664" y="34747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24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364" dirty="0"/>
          </a:p>
        </p:txBody>
      </p:sp>
      <p:sp>
        <p:nvSpPr>
          <p:cNvPr id="22" name="Text 20"/>
          <p:cNvSpPr/>
          <p:nvPr/>
        </p:nvSpPr>
        <p:spPr>
          <a:xfrm>
            <a:off x="7232904" y="341071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Aged Payables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32904" y="38130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firm owes, by age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572000"/>
            <a:ext cx="5358384" cy="1234440"/>
          </a:xfrm>
          <a:prstGeom prst="roundRect">
            <a:avLst>
              <a:gd name="adj" fmla="val 7407"/>
            </a:avLst>
          </a:prstGeom>
          <a:solidFill>
            <a:srgbClr val="2E134A"/>
          </a:solidFill>
          <a:ln/>
        </p:spPr>
      </p:sp>
      <p:sp>
        <p:nvSpPr>
          <p:cNvPr id="25" name="Shape 23"/>
          <p:cNvSpPr/>
          <p:nvPr/>
        </p:nvSpPr>
        <p:spPr>
          <a:xfrm>
            <a:off x="914400" y="4892040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48920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24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364" dirty="0"/>
          </a:p>
        </p:txBody>
      </p:sp>
      <p:sp>
        <p:nvSpPr>
          <p:cNvPr id="27" name="Text 25"/>
          <p:cNvSpPr/>
          <p:nvPr/>
        </p:nvSpPr>
        <p:spPr>
          <a:xfrm>
            <a:off x="1691640" y="48280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Trial Balance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691640" y="52303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the ledger ties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81344" y="4572000"/>
            <a:ext cx="5358384" cy="1234440"/>
          </a:xfrm>
          <a:prstGeom prst="roundRect">
            <a:avLst>
              <a:gd name="adj" fmla="val 7407"/>
            </a:avLst>
          </a:prstGeom>
          <a:solidFill>
            <a:srgbClr val="2E134A"/>
          </a:solidFill>
          <a:ln/>
        </p:spPr>
      </p:sp>
      <p:sp>
        <p:nvSpPr>
          <p:cNvPr id="30" name="Shape 28"/>
          <p:cNvSpPr/>
          <p:nvPr/>
        </p:nvSpPr>
        <p:spPr>
          <a:xfrm>
            <a:off x="6455664" y="4892040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1" name="Text 29"/>
          <p:cNvSpPr/>
          <p:nvPr/>
        </p:nvSpPr>
        <p:spPr>
          <a:xfrm>
            <a:off x="6455664" y="48920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24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364" dirty="0"/>
          </a:p>
        </p:txBody>
      </p:sp>
      <p:sp>
        <p:nvSpPr>
          <p:cNvPr id="32" name="Text 30"/>
          <p:cNvSpPr/>
          <p:nvPr/>
        </p:nvSpPr>
        <p:spPr>
          <a:xfrm>
            <a:off x="7232904" y="48280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vs Actual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232904" y="52303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against the GL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report reads from posted ledger entries and exports to CSV.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Assistant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03520" cy="4434840"/>
          </a:xfrm>
          <a:prstGeom prst="roundRect">
            <a:avLst>
              <a:gd name="adj" fmla="val 2474"/>
            </a:avLst>
          </a:prstGeom>
          <a:solidFill>
            <a:srgbClr val="F4F1F8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103120"/>
            <a:ext cx="548640" cy="54864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1645920" y="21945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in plain language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292608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is our net result, and which client owes us the most?”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384048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are grounded in your real figures — the model only sees a snapshot of this firm's data, in English or French.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309360" y="1783080"/>
            <a:ext cx="5212080" cy="4434840"/>
          </a:xfrm>
          <a:prstGeom prst="roundRect">
            <a:avLst>
              <a:gd name="adj" fmla="val 2474"/>
            </a:avLst>
          </a:prstGeom>
          <a:solidFill>
            <a:srgbClr val="241033"/>
          </a:solidFill>
          <a:ln/>
        </p:spPr>
      </p:sp>
      <p:sp>
        <p:nvSpPr>
          <p:cNvPr id="11" name="Shape 9"/>
          <p:cNvSpPr/>
          <p:nvPr/>
        </p:nvSpPr>
        <p:spPr>
          <a:xfrm>
            <a:off x="6629400" y="2103120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4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7315200" y="21945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Invoice OCR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629400" y="29260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9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 invoice image or PDF and the fields are read out automatically to pre-fill an AP bill.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629400" y="434340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8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ANTHROPIC_API_KEY to switch these on. Without it the rest of the app runs normally and AI shows a friendly notice.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1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ADMINISTRATORS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the system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58384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1965960"/>
            <a:ext cx="502920" cy="50292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10" dirty="0"/>
          </a:p>
        </p:txBody>
      </p:sp>
      <p:sp>
        <p:nvSpPr>
          <p:cNvPr id="7" name="Text 5"/>
          <p:cNvSpPr/>
          <p:nvPr/>
        </p:nvSpPr>
        <p:spPr>
          <a:xfrm>
            <a:off x="1600200" y="18928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 users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00200" y="2267712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deactivate, assign roles, reset passwords — IT Admin only.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81344" y="1691640"/>
            <a:ext cx="5358384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437376" y="1965960"/>
            <a:ext cx="502920" cy="502920"/>
          </a:xfrm>
          <a:prstGeom prst="ellipse">
            <a:avLst/>
          </a:prstGeom>
          <a:solidFill>
            <a:srgbClr val="2E134A"/>
          </a:solidFill>
          <a:ln/>
        </p:spPr>
      </p:sp>
      <p:sp>
        <p:nvSpPr>
          <p:cNvPr id="11" name="Text 9"/>
          <p:cNvSpPr/>
          <p:nvPr/>
        </p:nvSpPr>
        <p:spPr>
          <a:xfrm>
            <a:off x="6437376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10" dirty="0"/>
          </a:p>
        </p:txBody>
      </p:sp>
      <p:sp>
        <p:nvSpPr>
          <p:cNvPr id="12" name="Text 10"/>
          <p:cNvSpPr/>
          <p:nvPr/>
        </p:nvSpPr>
        <p:spPr>
          <a:xfrm>
            <a:off x="7141464" y="18928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&amp; permissions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41464" y="2267712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permission each role grants on the Roles screen.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172968"/>
            <a:ext cx="5358384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896112" y="3447288"/>
            <a:ext cx="502920" cy="50292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34472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10" dirty="0"/>
          </a:p>
        </p:txBody>
      </p:sp>
      <p:sp>
        <p:nvSpPr>
          <p:cNvPr id="17" name="Text 15"/>
          <p:cNvSpPr/>
          <p:nvPr/>
        </p:nvSpPr>
        <p:spPr>
          <a:xfrm>
            <a:off x="1600200" y="337413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log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00200" y="3749040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changed what, when, with before/after — immutable and searchable.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81344" y="3172968"/>
            <a:ext cx="5358384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6437376" y="3447288"/>
            <a:ext cx="502920" cy="502920"/>
          </a:xfrm>
          <a:prstGeom prst="ellipse">
            <a:avLst/>
          </a:prstGeom>
          <a:solidFill>
            <a:srgbClr val="2E134A"/>
          </a:solidFill>
          <a:ln/>
        </p:spPr>
      </p:sp>
      <p:sp>
        <p:nvSpPr>
          <p:cNvPr id="21" name="Text 19"/>
          <p:cNvSpPr/>
          <p:nvPr/>
        </p:nvSpPr>
        <p:spPr>
          <a:xfrm>
            <a:off x="6437376" y="34472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10" dirty="0"/>
          </a:p>
        </p:txBody>
      </p:sp>
      <p:sp>
        <p:nvSpPr>
          <p:cNvPr id="22" name="Text 20"/>
          <p:cNvSpPr/>
          <p:nvPr/>
        </p:nvSpPr>
        <p:spPr>
          <a:xfrm>
            <a:off x="7141464" y="337413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Accounting periods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41464" y="3749040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into open periods; close periods to lock the books.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4654296"/>
            <a:ext cx="5358384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896112" y="4928616"/>
            <a:ext cx="502920" cy="50292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26" name="Text 24"/>
          <p:cNvSpPr/>
          <p:nvPr/>
        </p:nvSpPr>
        <p:spPr>
          <a:xfrm>
            <a:off x="896112" y="49286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10" dirty="0"/>
          </a:p>
        </p:txBody>
      </p:sp>
      <p:sp>
        <p:nvSpPr>
          <p:cNvPr id="27" name="Text 25"/>
          <p:cNvSpPr/>
          <p:nvPr/>
        </p:nvSpPr>
        <p:spPr>
          <a:xfrm>
            <a:off x="1600200" y="485546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Sessions &amp; lockout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600200" y="5230368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logins lock the account; sessions expire and can be revoked.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181344" y="4654296"/>
            <a:ext cx="5358384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6437376" y="4928616"/>
            <a:ext cx="502920" cy="502920"/>
          </a:xfrm>
          <a:prstGeom prst="ellipse">
            <a:avLst/>
          </a:prstGeom>
          <a:solidFill>
            <a:srgbClr val="2E134A"/>
          </a:solidFill>
          <a:ln/>
        </p:spPr>
      </p:sp>
      <p:sp>
        <p:nvSpPr>
          <p:cNvPr id="31" name="Text 29"/>
          <p:cNvSpPr/>
          <p:nvPr/>
        </p:nvSpPr>
        <p:spPr>
          <a:xfrm>
            <a:off x="6437376" y="49286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10" dirty="0"/>
          </a:p>
        </p:txBody>
      </p:sp>
      <p:sp>
        <p:nvSpPr>
          <p:cNvPr id="32" name="Text 30"/>
          <p:cNvSpPr/>
          <p:nvPr/>
        </p:nvSpPr>
        <p:spPr>
          <a:xfrm>
            <a:off x="7141464" y="485546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Backups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141464" y="5230368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database backups; documented restore procedure.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CONTROL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compliance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57200" cy="457200"/>
          </a:xfrm>
          <a:prstGeom prst="ellipse">
            <a:avLst/>
          </a:prstGeom>
          <a:solidFill>
            <a:srgbClr val="2E7D5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280160" y="1673352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Immutable records   </a:t>
            </a:r>
            <a:pPr indent="0" marL="0">
              <a:buNone/>
            </a:pPr>
            <a:r>
              <a:rPr lang="en-US" sz="1300" dirty="0">
                <a:solidFill>
                  <a:srgbClr val="5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Posted journals and audit rows are never altered.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450592"/>
            <a:ext cx="457200" cy="457200"/>
          </a:xfrm>
          <a:prstGeom prst="ellipse">
            <a:avLst/>
          </a:prstGeom>
          <a:solidFill>
            <a:srgbClr val="2E7D5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50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80160" y="2432304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Segregation of duties   </a:t>
            </a:r>
            <a:pPr indent="0" marL="0">
              <a:buNone/>
            </a:pPr>
            <a:r>
              <a:rPr lang="en-US" sz="1300" dirty="0">
                <a:solidFill>
                  <a:srgbClr val="5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Maker ≠ checker; self-approval is blocked.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209544"/>
            <a:ext cx="457200" cy="457200"/>
          </a:xfrm>
          <a:prstGeom prst="ellipse">
            <a:avLst/>
          </a:prstGeom>
          <a:solidFill>
            <a:srgbClr val="2E7D5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2095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80160" y="3191256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Least privilege   </a:t>
            </a:r>
            <a:pPr indent="0" marL="0">
              <a:buNone/>
            </a:pPr>
            <a:r>
              <a:rPr lang="en-US" sz="1300" dirty="0">
                <a:solidFill>
                  <a:srgbClr val="5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users start with no access until roles are assigned.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968496"/>
            <a:ext cx="457200" cy="457200"/>
          </a:xfrm>
          <a:prstGeom prst="ellipse">
            <a:avLst/>
          </a:prstGeom>
          <a:solidFill>
            <a:srgbClr val="2E7D5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9684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80160" y="395020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Encrypted secrets   </a:t>
            </a:r>
            <a:pPr indent="0" marL="0">
              <a:buNone/>
            </a:pPr>
            <a:r>
              <a:rPr lang="en-US" sz="1300" dirty="0">
                <a:solidFill>
                  <a:srgbClr val="5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hashed (argon/bcrypt); tokens in secure cookies.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727448"/>
            <a:ext cx="457200" cy="457200"/>
          </a:xfrm>
          <a:prstGeom prst="ellipse">
            <a:avLst/>
          </a:prstGeom>
          <a:solidFill>
            <a:srgbClr val="2E7D5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727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80160" y="470916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Tenant isolation   </a:t>
            </a:r>
            <a:pPr indent="0" marL="0">
              <a:buNone/>
            </a:pPr>
            <a:r>
              <a:rPr lang="en-US" sz="1300" dirty="0">
                <a:solidFill>
                  <a:srgbClr val="5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record scoped to the company; enforced server-side.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5486400"/>
            <a:ext cx="457200" cy="457200"/>
          </a:xfrm>
          <a:prstGeom prst="ellipse">
            <a:avLst/>
          </a:prstGeom>
          <a:solidFill>
            <a:srgbClr val="2E7D52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486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80160" y="5468112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Balanced ledger   </a:t>
            </a:r>
            <a:pPr indent="0" marL="0">
              <a:buNone/>
            </a:pPr>
            <a:r>
              <a:rPr lang="en-US" sz="1300" dirty="0">
                <a:solidFill>
                  <a:srgbClr val="5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balance ties and the balance sheet balances — always.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41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Deploying to the web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4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20" dirty="0"/>
          </a:p>
        </p:txBody>
      </p:sp>
      <p:sp>
        <p:nvSpPr>
          <p:cNvPr id="6" name="Text 4"/>
          <p:cNvSpPr/>
          <p:nvPr/>
        </p:nvSpPr>
        <p:spPr>
          <a:xfrm>
            <a:off x="1371600" y="176479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Push to GitHub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211226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empty repo, then git push the code.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624328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243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4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1371600" y="2606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Provision Postgres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95351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Postgres / Neon / Supabase (free tier).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465576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46557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4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1371600" y="34472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 in Vercel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37947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Vercel at the GitHub repo.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306824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30682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4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1371600" y="428853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env vars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463600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DB_PROVIDER, DATABASE_URL, AUTH_SECRET (+ optional AI key).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148072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1480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4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1371600" y="512978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5477256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vercel-build creates the schema and seeds automatically.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680960" y="1783080"/>
            <a:ext cx="3840480" cy="4206240"/>
          </a:xfrm>
          <a:prstGeom prst="roundRect">
            <a:avLst>
              <a:gd name="adj" fmla="val 2857"/>
            </a:avLst>
          </a:prstGeom>
          <a:solidFill>
            <a:srgbClr val="2E134A"/>
          </a:solidFill>
          <a:ln/>
        </p:spPr>
      </p:sp>
      <p:sp>
        <p:nvSpPr>
          <p:cNvPr id="25" name="Text 23"/>
          <p:cNvSpPr/>
          <p:nvPr/>
        </p:nvSpPr>
        <p:spPr>
          <a:xfrm>
            <a:off x="8001000" y="2057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notes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001000" y="2560320"/>
            <a:ext cx="347472" cy="34747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7" name="Text 25"/>
          <p:cNvSpPr/>
          <p:nvPr/>
        </p:nvSpPr>
        <p:spPr>
          <a:xfrm>
            <a:off x="8001000" y="25603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6" b="1" dirty="0">
                <a:solidFill>
                  <a:srgbClr val="24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836" dirty="0"/>
          </a:p>
        </p:txBody>
      </p:sp>
      <p:sp>
        <p:nvSpPr>
          <p:cNvPr id="28" name="Text 26"/>
          <p:cNvSpPr/>
          <p:nvPr/>
        </p:nvSpPr>
        <p:spPr>
          <a:xfrm>
            <a:off x="8458200" y="25146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PostgreSQL, not the dev SQLite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001000" y="3337560"/>
            <a:ext cx="347472" cy="34747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0" name="Text 28"/>
          <p:cNvSpPr/>
          <p:nvPr/>
        </p:nvSpPr>
        <p:spPr>
          <a:xfrm>
            <a:off x="8001000" y="33375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6" b="1" dirty="0">
                <a:solidFill>
                  <a:srgbClr val="24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836" dirty="0"/>
          </a:p>
        </p:txBody>
      </p:sp>
      <p:sp>
        <p:nvSpPr>
          <p:cNvPr id="31" name="Text 29"/>
          <p:cNvSpPr/>
          <p:nvPr/>
        </p:nvSpPr>
        <p:spPr>
          <a:xfrm>
            <a:off x="8458200" y="329184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is required (secure cookies)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001000" y="4114800"/>
            <a:ext cx="347472" cy="34747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3" name="Text 31"/>
          <p:cNvSpPr/>
          <p:nvPr/>
        </p:nvSpPr>
        <p:spPr>
          <a:xfrm>
            <a:off x="8001000" y="41148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6" b="1" dirty="0">
                <a:solidFill>
                  <a:srgbClr val="24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836" dirty="0"/>
          </a:p>
        </p:txBody>
      </p:sp>
      <p:sp>
        <p:nvSpPr>
          <p:cNvPr id="34" name="Text 32"/>
          <p:cNvSpPr/>
          <p:nvPr/>
        </p:nvSpPr>
        <p:spPr>
          <a:xfrm>
            <a:off x="8458200" y="406908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all seeded passwords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8001000" y="4892040"/>
            <a:ext cx="347472" cy="34747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6" name="Text 34"/>
          <p:cNvSpPr/>
          <p:nvPr/>
        </p:nvSpPr>
        <p:spPr>
          <a:xfrm>
            <a:off x="8001000" y="4892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6" b="1" dirty="0">
                <a:solidFill>
                  <a:srgbClr val="24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836" dirty="0"/>
          </a:p>
        </p:txBody>
      </p:sp>
      <p:sp>
        <p:nvSpPr>
          <p:cNvPr id="37" name="Text 35"/>
          <p:cNvSpPr/>
          <p:nvPr/>
        </p:nvSpPr>
        <p:spPr>
          <a:xfrm>
            <a:off x="8458200" y="48463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docs/DEPLOY-VERCEL.md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41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108960"/>
            <a:ext cx="5943600" cy="594360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2103120"/>
            <a:ext cx="5029200" cy="5029200"/>
          </a:xfrm>
          <a:prstGeom prst="ellipse">
            <a:avLst/>
          </a:prstGeom>
          <a:solidFill>
            <a:srgbClr val="2E134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READY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the firm's finances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confidence.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475488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lives in the repo under /docs — architecture, data model, security, roadmap and deployment.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Dentons KMN Finance Management System   ·   Administrator &amp; User Guide   ·   v1.0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Dentons KMN Finance — Administrator &amp; User Guide</dc:title>
  <dc:subject>PptxGenJS Presentation</dc:subject>
  <dc:creator>Dentons KMN Finance</dc:creator>
  <cp:lastModifiedBy>Dentons KMN Finance</cp:lastModifiedBy>
  <cp:revision>1</cp:revision>
  <dcterms:created xsi:type="dcterms:W3CDTF">2026-07-10T09:42:11Z</dcterms:created>
  <dcterms:modified xsi:type="dcterms:W3CDTF">2026-07-10T09:42:11Z</dcterms:modified>
</cp:coreProperties>
</file>